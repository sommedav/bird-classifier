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9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1C4A2-6D55-40A4-A791-894DFC1BFBD7}" v="12" dt="2026-06-25T17:45:33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91" autoAdjust="0"/>
    <p:restoredTop sz="86389" autoAdjust="0"/>
  </p:normalViewPr>
  <p:slideViewPr>
    <p:cSldViewPr snapToGrid="0" snapToObjects="1">
      <p:cViewPr varScale="1">
        <p:scale>
          <a:sx n="139" d="100"/>
          <a:sy n="139" d="100"/>
        </p:scale>
        <p:origin x="197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 L." userId="b2e83f797f0ea9ad" providerId="LiveId" clId="{25607F44-E89C-4F57-AC5D-72A725DC4D85}"/>
    <pc:docChg chg="undo custSel modSld">
      <pc:chgData name="Yann L." userId="b2e83f797f0ea9ad" providerId="LiveId" clId="{25607F44-E89C-4F57-AC5D-72A725DC4D85}" dt="2026-06-25T17:45:39.773" v="299" actId="207"/>
      <pc:docMkLst>
        <pc:docMk/>
      </pc:docMkLst>
      <pc:sldChg chg="modSp mod">
        <pc:chgData name="Yann L." userId="b2e83f797f0ea9ad" providerId="LiveId" clId="{25607F44-E89C-4F57-AC5D-72A725DC4D85}" dt="2026-06-25T16:44:08.946" v="244" actId="20577"/>
        <pc:sldMkLst>
          <pc:docMk/>
          <pc:sldMk cId="0" sldId="256"/>
        </pc:sldMkLst>
        <pc:spChg chg="mod">
          <ac:chgData name="Yann L." userId="b2e83f797f0ea9ad" providerId="LiveId" clId="{25607F44-E89C-4F57-AC5D-72A725DC4D85}" dt="2026-06-24T18:09:55.944" v="18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Yann L." userId="b2e83f797f0ea9ad" providerId="LiveId" clId="{25607F44-E89C-4F57-AC5D-72A725DC4D85}" dt="2026-06-25T16:44:08.946" v="244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Yann L." userId="b2e83f797f0ea9ad" providerId="LiveId" clId="{25607F44-E89C-4F57-AC5D-72A725DC4D85}" dt="2026-06-24T18:09:28.533" v="182" actId="403"/>
          <ac:spMkLst>
            <pc:docMk/>
            <pc:sldMk cId="0" sldId="256"/>
            <ac:spMk id="9" creationId="{00000000-0000-0000-0000-000000000000}"/>
          </ac:spMkLst>
        </pc:spChg>
        <pc:spChg chg="mod">
          <ac:chgData name="Yann L." userId="b2e83f797f0ea9ad" providerId="LiveId" clId="{25607F44-E89C-4F57-AC5D-72A725DC4D85}" dt="2026-06-24T18:09:30.444" v="183" actId="403"/>
          <ac:spMkLst>
            <pc:docMk/>
            <pc:sldMk cId="0" sldId="256"/>
            <ac:spMk id="10" creationId="{00000000-0000-0000-0000-000000000000}"/>
          </ac:spMkLst>
        </pc:spChg>
        <pc:picChg chg="mod ord modCrop">
          <ac:chgData name="Yann L." userId="b2e83f797f0ea9ad" providerId="LiveId" clId="{25607F44-E89C-4F57-AC5D-72A725DC4D85}" dt="2026-06-24T18:10:36.374" v="192" actId="732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Yann L." userId="b2e83f797f0ea9ad" providerId="LiveId" clId="{25607F44-E89C-4F57-AC5D-72A725DC4D85}" dt="2026-06-25T17:33:47.674" v="280" actId="20577"/>
        <pc:sldMkLst>
          <pc:docMk/>
          <pc:sldMk cId="0" sldId="257"/>
        </pc:sldMkLst>
        <pc:spChg chg="mod">
          <ac:chgData name="Yann L." userId="b2e83f797f0ea9ad" providerId="LiveId" clId="{25607F44-E89C-4F57-AC5D-72A725DC4D85}" dt="2026-06-24T18:07:49.990" v="167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Yann L." userId="b2e83f797f0ea9ad" providerId="LiveId" clId="{25607F44-E89C-4F57-AC5D-72A725DC4D85}" dt="2026-06-24T18:09:22.142" v="181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Yann L." userId="b2e83f797f0ea9ad" providerId="LiveId" clId="{25607F44-E89C-4F57-AC5D-72A725DC4D85}" dt="2026-06-25T17:33:47.674" v="280" actId="20577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Yann L." userId="b2e83f797f0ea9ad" providerId="LiveId" clId="{25607F44-E89C-4F57-AC5D-72A725DC4D85}" dt="2026-06-24T18:05:50.732" v="132" actId="478"/>
          <ac:spMkLst>
            <pc:docMk/>
            <pc:sldMk cId="0" sldId="257"/>
            <ac:spMk id="17" creationId="{E646B11D-9C44-8682-C0AE-1C0852C9CE21}"/>
          </ac:spMkLst>
        </pc:spChg>
        <pc:spChg chg="add mod">
          <ac:chgData name="Yann L." userId="b2e83f797f0ea9ad" providerId="LiveId" clId="{25607F44-E89C-4F57-AC5D-72A725DC4D85}" dt="2026-06-24T18:09:16.468" v="180" actId="14100"/>
          <ac:spMkLst>
            <pc:docMk/>
            <pc:sldMk cId="0" sldId="257"/>
            <ac:spMk id="18" creationId="{975E865B-3574-B355-10BD-18A56527E1EC}"/>
          </ac:spMkLst>
        </pc:spChg>
        <pc:spChg chg="add mod">
          <ac:chgData name="Yann L." userId="b2e83f797f0ea9ad" providerId="LiveId" clId="{25607F44-E89C-4F57-AC5D-72A725DC4D85}" dt="2026-06-24T18:07:31.839" v="166"/>
          <ac:spMkLst>
            <pc:docMk/>
            <pc:sldMk cId="0" sldId="257"/>
            <ac:spMk id="19" creationId="{0773323C-56F3-10CC-76E0-67BCA9076FF8}"/>
          </ac:spMkLst>
        </pc:spChg>
      </pc:sldChg>
      <pc:sldChg chg="addSp modSp mod">
        <pc:chgData name="Yann L." userId="b2e83f797f0ea9ad" providerId="LiveId" clId="{25607F44-E89C-4F57-AC5D-72A725DC4D85}" dt="2026-06-24T18:09:11.350" v="179" actId="1076"/>
        <pc:sldMkLst>
          <pc:docMk/>
          <pc:sldMk cId="0" sldId="258"/>
        </pc:sldMkLst>
        <pc:spChg chg="mod">
          <ac:chgData name="Yann L." userId="b2e83f797f0ea9ad" providerId="LiveId" clId="{25607F44-E89C-4F57-AC5D-72A725DC4D85}" dt="2026-06-24T18:09:11.350" v="179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Yann L." userId="b2e83f797f0ea9ad" providerId="LiveId" clId="{25607F44-E89C-4F57-AC5D-72A725DC4D85}" dt="2026-06-24T18:00:42.568" v="91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Yann L." userId="b2e83f797f0ea9ad" providerId="LiveId" clId="{25607F44-E89C-4F57-AC5D-72A725DC4D85}" dt="2026-06-24T17:53:20.982" v="13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ann L." userId="b2e83f797f0ea9ad" providerId="LiveId" clId="{25607F44-E89C-4F57-AC5D-72A725DC4D85}" dt="2026-06-24T18:00:24.139" v="84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Yann L." userId="b2e83f797f0ea9ad" providerId="LiveId" clId="{25607F44-E89C-4F57-AC5D-72A725DC4D85}" dt="2026-06-24T17:53:45.257" v="15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Yann L." userId="b2e83f797f0ea9ad" providerId="LiveId" clId="{25607F44-E89C-4F57-AC5D-72A725DC4D85}" dt="2026-06-24T17:53:47.703" v="17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Yann L." userId="b2e83f797f0ea9ad" providerId="LiveId" clId="{25607F44-E89C-4F57-AC5D-72A725DC4D85}" dt="2026-06-24T18:01:00.618" v="112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Yann L." userId="b2e83f797f0ea9ad" providerId="LiveId" clId="{25607F44-E89C-4F57-AC5D-72A725DC4D85}" dt="2026-06-24T18:02:16.928" v="119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Yann L." userId="b2e83f797f0ea9ad" providerId="LiveId" clId="{25607F44-E89C-4F57-AC5D-72A725DC4D85}" dt="2026-06-24T18:02:46.182" v="120" actId="1076"/>
          <ac:spMkLst>
            <pc:docMk/>
            <pc:sldMk cId="0" sldId="258"/>
            <ac:spMk id="35" creationId="{00000000-0000-0000-0000-000000000000}"/>
          </ac:spMkLst>
        </pc:spChg>
        <pc:spChg chg="add mod">
          <ac:chgData name="Yann L." userId="b2e83f797f0ea9ad" providerId="LiveId" clId="{25607F44-E89C-4F57-AC5D-72A725DC4D85}" dt="2026-06-24T18:08:28.135" v="171" actId="14100"/>
          <ac:spMkLst>
            <pc:docMk/>
            <pc:sldMk cId="0" sldId="258"/>
            <ac:spMk id="36" creationId="{71110B79-7AFC-9C60-27DA-BE6326CF99AC}"/>
          </ac:spMkLst>
        </pc:spChg>
        <pc:spChg chg="add mod">
          <ac:chgData name="Yann L." userId="b2e83f797f0ea9ad" providerId="LiveId" clId="{25607F44-E89C-4F57-AC5D-72A725DC4D85}" dt="2026-06-24T18:09:03.669" v="178" actId="1076"/>
          <ac:spMkLst>
            <pc:docMk/>
            <pc:sldMk cId="0" sldId="258"/>
            <ac:spMk id="37" creationId="{A5C8248F-D727-9E97-3DE5-A3A72B96111A}"/>
          </ac:spMkLst>
        </pc:spChg>
        <pc:picChg chg="mod">
          <ac:chgData name="Yann L." userId="b2e83f797f0ea9ad" providerId="LiveId" clId="{25607F44-E89C-4F57-AC5D-72A725DC4D85}" dt="2026-06-24T17:54:49.789" v="25" actId="1076"/>
          <ac:picMkLst>
            <pc:docMk/>
            <pc:sldMk cId="0" sldId="258"/>
            <ac:picMk id="34" creationId="{00000000-0000-0000-0000-000000000000}"/>
          </ac:picMkLst>
        </pc:picChg>
      </pc:sldChg>
      <pc:sldChg chg="addSp modSp mod">
        <pc:chgData name="Yann L." userId="b2e83f797f0ea9ad" providerId="LiveId" clId="{25607F44-E89C-4F57-AC5D-72A725DC4D85}" dt="2026-06-25T17:43:22.044" v="281" actId="113"/>
        <pc:sldMkLst>
          <pc:docMk/>
          <pc:sldMk cId="0" sldId="259"/>
        </pc:sldMkLst>
        <pc:spChg chg="mod">
          <ac:chgData name="Yann L." userId="b2e83f797f0ea9ad" providerId="LiveId" clId="{25607F44-E89C-4F57-AC5D-72A725DC4D85}" dt="2026-06-24T18:08:57.244" v="177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Yann L." userId="b2e83f797f0ea9ad" providerId="LiveId" clId="{25607F44-E89C-4F57-AC5D-72A725DC4D85}" dt="2026-06-25T17:43:22.044" v="281" actId="113"/>
          <ac:spMkLst>
            <pc:docMk/>
            <pc:sldMk cId="0" sldId="259"/>
            <ac:spMk id="6" creationId="{00000000-0000-0000-0000-000000000000}"/>
          </ac:spMkLst>
        </pc:spChg>
        <pc:spChg chg="mod">
          <ac:chgData name="Yann L." userId="b2e83f797f0ea9ad" providerId="LiveId" clId="{25607F44-E89C-4F57-AC5D-72A725DC4D85}" dt="2026-06-24T17:56:05.829" v="57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Yann L." userId="b2e83f797f0ea9ad" providerId="LiveId" clId="{25607F44-E89C-4F57-AC5D-72A725DC4D85}" dt="2026-06-24T17:56:10.667" v="58" actId="1076"/>
          <ac:spMkLst>
            <pc:docMk/>
            <pc:sldMk cId="0" sldId="259"/>
            <ac:spMk id="8" creationId="{00000000-0000-0000-0000-000000000000}"/>
          </ac:spMkLst>
        </pc:spChg>
        <pc:spChg chg="add mod">
          <ac:chgData name="Yann L." userId="b2e83f797f0ea9ad" providerId="LiveId" clId="{25607F44-E89C-4F57-AC5D-72A725DC4D85}" dt="2026-06-24T18:08:54.519" v="176" actId="14100"/>
          <ac:spMkLst>
            <pc:docMk/>
            <pc:sldMk cId="0" sldId="259"/>
            <ac:spMk id="10" creationId="{F0FC0875-2992-59F5-BD72-2414E3581AE1}"/>
          </ac:spMkLst>
        </pc:spChg>
        <pc:spChg chg="add mod">
          <ac:chgData name="Yann L." userId="b2e83f797f0ea9ad" providerId="LiveId" clId="{25607F44-E89C-4F57-AC5D-72A725DC4D85}" dt="2026-06-24T18:07:11.977" v="164" actId="20577"/>
          <ac:spMkLst>
            <pc:docMk/>
            <pc:sldMk cId="0" sldId="259"/>
            <ac:spMk id="11" creationId="{495B83C9-C7F3-E44E-3233-085B71ACB4DC}"/>
          </ac:spMkLst>
        </pc:spChg>
      </pc:sldChg>
      <pc:sldChg chg="addSp modSp mod">
        <pc:chgData name="Yann L." userId="b2e83f797f0ea9ad" providerId="LiveId" clId="{25607F44-E89C-4F57-AC5D-72A725DC4D85}" dt="2026-06-25T17:45:39.773" v="299" actId="207"/>
        <pc:sldMkLst>
          <pc:docMk/>
          <pc:sldMk cId="0" sldId="260"/>
        </pc:sldMkLst>
        <pc:spChg chg="mod">
          <ac:chgData name="Yann L." userId="b2e83f797f0ea9ad" providerId="LiveId" clId="{25607F44-E89C-4F57-AC5D-72A725DC4D85}" dt="2026-06-24T18:08:47.233" v="175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Yann L." userId="b2e83f797f0ea9ad" providerId="LiveId" clId="{25607F44-E89C-4F57-AC5D-72A725DC4D85}" dt="2026-06-25T17:45:39.773" v="299" actId="207"/>
          <ac:spMkLst>
            <pc:docMk/>
            <pc:sldMk cId="0" sldId="260"/>
            <ac:spMk id="17" creationId="{00000000-0000-0000-0000-000000000000}"/>
          </ac:spMkLst>
        </pc:spChg>
        <pc:spChg chg="add mod">
          <ac:chgData name="Yann L." userId="b2e83f797f0ea9ad" providerId="LiveId" clId="{25607F44-E89C-4F57-AC5D-72A725DC4D85}" dt="2026-06-24T18:08:43.006" v="174" actId="14100"/>
          <ac:spMkLst>
            <pc:docMk/>
            <pc:sldMk cId="0" sldId="260"/>
            <ac:spMk id="18" creationId="{4C455594-8D8D-EDDE-A09D-B9764D803060}"/>
          </ac:spMkLst>
        </pc:spChg>
        <pc:spChg chg="add mod">
          <ac:chgData name="Yann L." userId="b2e83f797f0ea9ad" providerId="LiveId" clId="{25607F44-E89C-4F57-AC5D-72A725DC4D85}" dt="2026-06-24T18:08:43.006" v="174" actId="14100"/>
          <ac:spMkLst>
            <pc:docMk/>
            <pc:sldMk cId="0" sldId="260"/>
            <ac:spMk id="19" creationId="{C723049D-75C9-7701-9D06-93AC39D78A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59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Mit »Welcher Vogel </a:t>
            </a:r>
            <a:r>
              <a:rPr dirty="0" err="1"/>
              <a:t>singt</a:t>
            </a:r>
            <a:r>
              <a:rPr dirty="0"/>
              <a:t> da </a:t>
            </a:r>
            <a:r>
              <a:rPr dirty="0" err="1"/>
              <a:t>gerade</a:t>
            </a:r>
            <a:r>
              <a:rPr dirty="0"/>
              <a:t>?« </a:t>
            </a:r>
            <a:r>
              <a:rPr dirty="0" err="1"/>
              <a:t>einsteigen</a:t>
            </a:r>
            <a:r>
              <a:rPr dirty="0"/>
              <a:t>. Ein Satz: Das Projekt </a:t>
            </a:r>
            <a:r>
              <a:rPr dirty="0" err="1"/>
              <a:t>erkennt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häufige</a:t>
            </a:r>
            <a:r>
              <a:rPr dirty="0"/>
              <a:t> </a:t>
            </a:r>
            <a:r>
              <a:rPr dirty="0" err="1"/>
              <a:t>Gartenvögel</a:t>
            </a:r>
            <a:r>
              <a:rPr dirty="0"/>
              <a:t> an 5-Sekunden-Aufnahmen, plus </a:t>
            </a:r>
            <a:r>
              <a:rPr dirty="0" err="1"/>
              <a:t>eine</a:t>
            </a:r>
            <a:r>
              <a:rPr dirty="0"/>
              <a:t> Background-Klasse für </a:t>
            </a:r>
            <a:r>
              <a:rPr dirty="0" err="1"/>
              <a:t>alles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. Namen </a:t>
            </a:r>
            <a:r>
              <a:rPr dirty="0" err="1"/>
              <a:t>nennen</a:t>
            </a:r>
            <a:r>
              <a:rPr dirty="0"/>
              <a:t>, </a:t>
            </a:r>
            <a:r>
              <a:rPr dirty="0" err="1"/>
              <a:t>weiter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 in einem Satz: Vogelstimmen ohne Vorwissen auseinanderzuhalten ist schwer. Lösung: kurze Aufnahme rein, Sekunden später eine Einordnung. Bewusst nur drei Arten plus Background — ein Machbarkeitsnachweis, kein fertiges Produkt.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Die Pipeline in </a:t>
            </a:r>
            <a:r>
              <a:rPr dirty="0" err="1"/>
              <a:t>einem</a:t>
            </a:r>
            <a:r>
              <a:rPr dirty="0"/>
              <a:t> Bogen: Audio </a:t>
            </a:r>
            <a:r>
              <a:rPr dirty="0" err="1"/>
              <a:t>wird</a:t>
            </a:r>
            <a:r>
              <a:rPr dirty="0"/>
              <a:t> in </a:t>
            </a:r>
            <a:r>
              <a:rPr dirty="0" err="1"/>
              <a:t>ein</a:t>
            </a:r>
            <a:r>
              <a:rPr dirty="0"/>
              <a:t> Mel-</a:t>
            </a:r>
            <a:r>
              <a:rPr dirty="0" err="1"/>
              <a:t>Spektrogramm</a:t>
            </a:r>
            <a:r>
              <a:rPr dirty="0"/>
              <a:t> </a:t>
            </a:r>
            <a:r>
              <a:rPr dirty="0" err="1"/>
              <a:t>umgewandelt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eigenes</a:t>
            </a:r>
            <a:r>
              <a:rPr dirty="0"/>
              <a:t> CNN </a:t>
            </a:r>
            <a:r>
              <a:rPr dirty="0" err="1"/>
              <a:t>ordnet</a:t>
            </a:r>
            <a:r>
              <a:rPr dirty="0"/>
              <a:t> es </a:t>
            </a:r>
            <a:r>
              <a:rPr dirty="0" err="1"/>
              <a:t>einer</a:t>
            </a:r>
            <a:r>
              <a:rPr dirty="0"/>
              <a:t> der vier Klassen </a:t>
            </a:r>
            <a:r>
              <a:rPr dirty="0" err="1"/>
              <a:t>zu</a:t>
            </a:r>
            <a:r>
              <a:rPr dirty="0"/>
              <a:t>, </a:t>
            </a:r>
            <a:r>
              <a:rPr dirty="0" err="1"/>
              <a:t>Ausgabe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Konfidenz</a:t>
            </a:r>
            <a:r>
              <a:rPr dirty="0"/>
              <a:t>, </a:t>
            </a:r>
            <a:r>
              <a:rPr dirty="0" err="1"/>
              <a:t>alles</a:t>
            </a:r>
            <a:r>
              <a:rPr dirty="0"/>
              <a:t> in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-App. </a:t>
            </a:r>
            <a:r>
              <a:rPr dirty="0" err="1"/>
              <a:t>Methodisch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CRISP-DM. Ein Detail </a:t>
            </a:r>
            <a:r>
              <a:rPr dirty="0" err="1"/>
              <a:t>betonen</a:t>
            </a:r>
            <a:r>
              <a:rPr dirty="0"/>
              <a:t>: Der Split </a:t>
            </a:r>
            <a:r>
              <a:rPr dirty="0" err="1"/>
              <a:t>läuft</a:t>
            </a:r>
            <a:r>
              <a:rPr dirty="0"/>
              <a:t> auf </a:t>
            </a:r>
            <a:r>
              <a:rPr dirty="0" err="1"/>
              <a:t>Aufnahme</a:t>
            </a:r>
            <a:r>
              <a:rPr dirty="0"/>
              <a:t>-Ebene, nicht pro Clip, </a:t>
            </a:r>
            <a:r>
              <a:rPr dirty="0" err="1"/>
              <a:t>damit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Leakage </a:t>
            </a:r>
            <a:r>
              <a:rPr dirty="0" err="1"/>
              <a:t>entsteht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Inhaltlicher Höhepunkt. Erst lernte das Modell das Rauschen statt den Gesang, die Accuracy sah trotzdem gut aus. Grund: Wer immer »Background« rät, liegt schon bei 54,5 % richtig. Deshalb messen wir mit Macro-F1, das jede Klasse gleich gewichtet. YAMNet filtert pro Clip, ob ein Vogel hörbar ist, und schafft eine saubere Background-Klasse. Die Konfusionsmatrix zeigt: Das Modell trifft jetzt auch die seltenen 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86,6 % auf ungesehenen Aufnahmen, Macro-F1 0,85, Klassen klar trennbar (ROC-AUC bis 0,99), Konfidenz gut kalibriert (ECE 0,098). Ehrliche Grenze: Die Kohlmeise hat den schwächsten Recall und wird am ehesten mit dem Rotkehlchen verwechselt, und vogelähnliche Hintergrundgeräusche werden manchmal selbstsicher als Vogel erkannt. Nächste Schritte: mehr Arten und echte Feldaufnahmen. Abschluss: ein ehrlicher Machbarkeitsnachweis, der seine Schwächen kennt.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78040" y="0"/>
            <a:ext cx="1371600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5C4C"/>
                </a:solidFill>
                <a:latin typeface="Arial"/>
              </a:rPr>
              <a:t>Proof of Concept · ML4B · WiSo/FAU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943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E1B16"/>
                </a:solidFill>
                <a:latin typeface="Georgia"/>
              </a:rPr>
              <a:t>Bird Species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880360"/>
            <a:ext cx="4572000" cy="31750"/>
          </a:xfrm>
          <a:prstGeom prst="rect">
            <a:avLst/>
          </a:prstGeom>
          <a:solidFill>
            <a:srgbClr val="1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F5C4C"/>
                </a:solidFill>
                <a:latin typeface="Georgia"/>
              </a:rPr>
              <a:t>»Welcher Vogel singt da gerade?«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566928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dirty="0">
                <a:solidFill>
                  <a:srgbClr val="5C574E"/>
                </a:solidFill>
                <a:latin typeface="Arial"/>
              </a:rPr>
              <a:t>Vogelgesang </a:t>
            </a:r>
            <a:r>
              <a:rPr sz="1300" b="0" i="0" dirty="0" err="1">
                <a:solidFill>
                  <a:srgbClr val="5C574E"/>
                </a:solidFill>
                <a:latin typeface="Arial"/>
              </a:rPr>
              <a:t>aus</a:t>
            </a:r>
            <a:r>
              <a:rPr sz="1300" b="0" i="0" dirty="0">
                <a:solidFill>
                  <a:srgbClr val="5C574E"/>
                </a:solidFill>
                <a:latin typeface="Arial"/>
              </a:rPr>
              <a:t> Clips</a:t>
            </a:r>
            <a:r>
              <a:rPr lang="de-DE" sz="1300" b="0" i="0" dirty="0">
                <a:solidFill>
                  <a:srgbClr val="5C574E"/>
                </a:solidFill>
                <a:latin typeface="Arial"/>
              </a:rPr>
              <a:t> und Live zuordnen</a:t>
            </a:r>
            <a:r>
              <a:rPr sz="1300" b="0" i="0" dirty="0">
                <a:solidFill>
                  <a:srgbClr val="5C574E"/>
                </a:solidFill>
                <a:latin typeface="Arial"/>
              </a:rPr>
              <a:t> · 4 Klassen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5C574E"/>
                </a:solidFill>
                <a:latin typeface="Arial"/>
              </a:rPr>
              <a:t>Eigenes</a:t>
            </a:r>
            <a:r>
              <a:rPr sz="1300" b="0" i="0" dirty="0">
                <a:solidFill>
                  <a:srgbClr val="5C574E"/>
                </a:solidFill>
                <a:latin typeface="Arial"/>
              </a:rPr>
              <a:t> CNN, </a:t>
            </a:r>
            <a:r>
              <a:rPr sz="1300" b="0" i="0" dirty="0" err="1">
                <a:solidFill>
                  <a:srgbClr val="5C574E"/>
                </a:solidFill>
                <a:latin typeface="Arial"/>
              </a:rPr>
              <a:t>eingeordnet</a:t>
            </a:r>
            <a:r>
              <a:rPr sz="1300" b="0" i="0" dirty="0">
                <a:solidFill>
                  <a:srgbClr val="5C574E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C574E"/>
                </a:solidFill>
                <a:latin typeface="Arial"/>
              </a:rPr>
              <a:t>neben</a:t>
            </a:r>
            <a:r>
              <a:rPr sz="1300" b="0" i="0" dirty="0">
                <a:solidFill>
                  <a:srgbClr val="5C574E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C574E"/>
                </a:solidFill>
                <a:latin typeface="Arial"/>
              </a:rPr>
              <a:t>BirdNET</a:t>
            </a:r>
            <a:endParaRPr sz="1300" b="0" i="0" dirty="0">
              <a:solidFill>
                <a:srgbClr val="5C574E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120640"/>
            <a:ext cx="411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5C574E"/>
                </a:solidFill>
                <a:latin typeface="Arial"/>
              </a:rPr>
              <a:t>Yann Lawrenz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5C574E"/>
                </a:solidFill>
                <a:latin typeface="Arial"/>
              </a:rPr>
              <a:t>ML4B </a:t>
            </a:r>
            <a:r>
              <a:rPr sz="1000" b="0" i="0" dirty="0" err="1">
                <a:solidFill>
                  <a:srgbClr val="5C574E"/>
                </a:solidFill>
                <a:latin typeface="Arial"/>
              </a:rPr>
              <a:t>SoSe</a:t>
            </a:r>
            <a:r>
              <a:rPr sz="1000" b="0" i="0" dirty="0">
                <a:solidFill>
                  <a:srgbClr val="5C574E"/>
                </a:solidFill>
                <a:latin typeface="Arial"/>
              </a:rPr>
              <a:t> 2026 · </a:t>
            </a:r>
            <a:r>
              <a:rPr sz="1000" b="0" i="0" dirty="0" err="1">
                <a:solidFill>
                  <a:srgbClr val="5C574E"/>
                </a:solidFill>
                <a:latin typeface="Arial"/>
              </a:rPr>
              <a:t>WiSo</a:t>
            </a:r>
            <a:r>
              <a:rPr sz="1000" b="0" i="0" dirty="0">
                <a:solidFill>
                  <a:srgbClr val="5C574E"/>
                </a:solidFill>
                <a:latin typeface="Arial"/>
              </a:rPr>
              <a:t> / FAU · 26.06.2026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1 / 5</a:t>
            </a:r>
          </a:p>
        </p:txBody>
      </p:sp>
      <p:pic>
        <p:nvPicPr>
          <p:cNvPr id="2" name="Picture 1" descr="hero_birds.png"/>
          <p:cNvPicPr>
            <a:picLocks noChangeAspect="1"/>
          </p:cNvPicPr>
          <p:nvPr/>
        </p:nvPicPr>
        <p:blipFill>
          <a:blip r:embed="rId3"/>
          <a:srcRect l="21177" r="26152"/>
          <a:stretch>
            <a:fillRect/>
          </a:stretch>
        </p:blipFill>
        <p:spPr>
          <a:xfrm>
            <a:off x="7264400" y="0"/>
            <a:ext cx="4927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5C4C"/>
                </a:solidFill>
                <a:latin typeface="Arial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1B16"/>
                </a:solidFill>
                <a:latin typeface="Georgia"/>
              </a:rPr>
              <a:t>Warum Vogelgesang erkennen?</a:t>
            </a:r>
          </a:p>
        </p:txBody>
      </p:sp>
      <p:sp>
        <p:nvSpPr>
          <p:cNvPr id="4" name="Rectangle 3"/>
          <p:cNvSpPr/>
          <p:nvPr/>
        </p:nvSpPr>
        <p:spPr>
          <a:xfrm flipV="1">
            <a:off x="594359" y="1330197"/>
            <a:ext cx="11056193" cy="45719"/>
          </a:xfrm>
          <a:prstGeom prst="rect">
            <a:avLst/>
          </a:prstGeom>
          <a:solidFill>
            <a:srgbClr val="1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7592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" y="1842163"/>
            <a:ext cx="5303520" cy="381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1F5C4C"/>
                </a:solidFill>
                <a:latin typeface="Arial"/>
              </a:rPr>
              <a:t>Problem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latin typeface="Arial"/>
              </a:rPr>
              <a:t>Vogel</a:t>
            </a:r>
            <a:r>
              <a:rPr lang="de-DE" sz="1200" b="0" i="0" dirty="0" err="1">
                <a:latin typeface="Arial"/>
              </a:rPr>
              <a:t>gesang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ohne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Vorwissen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kaum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zu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unterscheiden</a:t>
            </a:r>
            <a:r>
              <a:rPr sz="1200" b="0" i="0" dirty="0">
                <a:latin typeface="Arial"/>
              </a:rPr>
              <a:t>, </a:t>
            </a:r>
            <a:r>
              <a:rPr sz="1200" b="0" i="0" dirty="0" err="1">
                <a:latin typeface="Arial"/>
              </a:rPr>
              <a:t>selbst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häufige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Arten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klingen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ähnlich</a:t>
            </a:r>
            <a:r>
              <a:rPr sz="1200" b="0" i="0" dirty="0">
                <a:latin typeface="Arial"/>
              </a:rPr>
              <a:t>.</a:t>
            </a:r>
            <a:endParaRPr lang="de-DE" sz="1200" b="0" i="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endParaRPr lang="de-DE" sz="1400" dirty="0">
              <a:solidFill>
                <a:srgbClr val="1E1B16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Lösung</a:t>
            </a:r>
            <a:endParaRPr sz="12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latin typeface="Arial"/>
              </a:rPr>
              <a:t>Kurze Aufnahme hochladen, Sekunden später eine </a:t>
            </a:r>
            <a:r>
              <a:rPr sz="1200" b="0" i="0" dirty="0" err="1">
                <a:latin typeface="Arial"/>
              </a:rPr>
              <a:t>Einordnung</a:t>
            </a:r>
            <a:r>
              <a:rPr sz="1200" b="0" i="0" dirty="0">
                <a:latin typeface="Arial"/>
              </a:rPr>
              <a:t>.</a:t>
            </a:r>
            <a:br>
              <a:rPr lang="de-DE" sz="1200" b="0" i="0" dirty="0">
                <a:latin typeface="Arial"/>
              </a:rPr>
            </a:br>
            <a:r>
              <a:rPr lang="de-DE" sz="1200" b="0" i="0" dirty="0">
                <a:latin typeface="Arial"/>
              </a:rPr>
              <a:t>Programm meldet </a:t>
            </a:r>
            <a:r>
              <a:rPr sz="1200" b="0" i="0" dirty="0">
                <a:latin typeface="Arial"/>
              </a:rPr>
              <a:t>Background, wenn kein Zielvogel hörbar </a:t>
            </a:r>
            <a:r>
              <a:rPr sz="1200" b="0" i="0" dirty="0" err="1">
                <a:latin typeface="Arial"/>
              </a:rPr>
              <a:t>ist</a:t>
            </a:r>
            <a:r>
              <a:rPr sz="1200" b="0" i="0" dirty="0">
                <a:latin typeface="Arial"/>
              </a:rPr>
              <a:t>.</a:t>
            </a:r>
            <a:endParaRPr lang="de-DE" sz="1200" b="0" i="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endParaRPr sz="1400" b="0" i="0" dirty="0">
              <a:solidFill>
                <a:srgbClr val="1E1B16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Zielgruppe</a:t>
            </a:r>
            <a:endParaRPr sz="12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latin typeface="Arial"/>
              </a:rPr>
              <a:t>Hobby-Ornithologen, Naturinteressierte, </a:t>
            </a:r>
            <a:r>
              <a:rPr lang="de-DE" sz="1200" b="0" i="0" dirty="0">
                <a:latin typeface="Arial"/>
              </a:rPr>
              <a:t>Aufmerksame Wanderer</a:t>
            </a:r>
            <a:r>
              <a:rPr sz="1200" b="0" i="0" dirty="0">
                <a:latin typeface="Arial"/>
              </a:rPr>
              <a:t>.</a:t>
            </a:r>
            <a:endParaRPr lang="de-DE" sz="1200" b="0" i="0" dirty="0"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endParaRPr sz="1400" b="0" i="0" dirty="0">
              <a:solidFill>
                <a:srgbClr val="1E1B16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Abgrenzung</a:t>
            </a:r>
            <a:endParaRPr sz="12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latin typeface="Arial"/>
              </a:rPr>
              <a:t>Proof of Concept für 3 Arten, kein Produktivsystem.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5C4C"/>
                </a:solidFill>
                <a:latin typeface="Arial"/>
              </a:rPr>
              <a:t>4 Klassen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029968"/>
            <a:ext cx="201168" cy="20116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9202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1E1B16"/>
                </a:solidFill>
                <a:latin typeface="Arial"/>
              </a:rPr>
              <a:t>Amsel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 dirty="0">
                <a:solidFill>
                  <a:srgbClr val="5C574E"/>
                </a:solidFill>
                <a:latin typeface="Arial"/>
              </a:rPr>
              <a:t>Common Blackbird · Label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108960"/>
            <a:ext cx="201168" cy="201168"/>
          </a:xfrm>
          <a:prstGeom prst="rect">
            <a:avLst/>
          </a:prstGeom>
          <a:solidFill>
            <a:srgbClr val="D8A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78040" y="2999232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 err="1">
                <a:solidFill>
                  <a:srgbClr val="1E1B16"/>
                </a:solidFill>
                <a:latin typeface="Arial"/>
              </a:rPr>
              <a:t>Kohlmeise</a:t>
            </a:r>
            <a:endParaRPr sz="1300" b="1" i="0" dirty="0">
              <a:solidFill>
                <a:srgbClr val="1E1B16"/>
              </a:solidFill>
              <a:latin typeface="Arial"/>
            </a:endParaRP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 dirty="0">
                <a:solidFill>
                  <a:srgbClr val="5C574E"/>
                </a:solidFill>
                <a:latin typeface="Arial"/>
              </a:rPr>
              <a:t>Great Tit · Label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4187952"/>
            <a:ext cx="201168" cy="201168"/>
          </a:xfrm>
          <a:prstGeom prst="rect">
            <a:avLst/>
          </a:prstGeom>
          <a:solidFill>
            <a:srgbClr val="C05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4078224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16"/>
                </a:solidFill>
                <a:latin typeface="Arial"/>
              </a:rPr>
              <a:t>Rotkehlchen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5C574E"/>
                </a:solidFill>
                <a:latin typeface="Arial"/>
              </a:rPr>
              <a:t>European Robin · Label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266944"/>
            <a:ext cx="201168" cy="201168"/>
          </a:xfrm>
          <a:prstGeom prst="rect">
            <a:avLst/>
          </a:prstGeom>
          <a:solidFill>
            <a:srgbClr val="9B9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5157216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B16"/>
                </a:solidFill>
                <a:latin typeface="Arial"/>
              </a:rPr>
              <a:t>Background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 i="0">
                <a:solidFill>
                  <a:srgbClr val="5C574E"/>
                </a:solidFill>
                <a:latin typeface="Arial"/>
              </a:rPr>
              <a:t>Kein Zielvogel · Label 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0" y="1463040"/>
            <a:ext cx="0" cy="5029200"/>
          </a:xfrm>
          <a:prstGeom prst="line">
            <a:avLst/>
          </a:prstGeom>
          <a:ln w="9525">
            <a:solidFill>
              <a:srgbClr val="D9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3">
            <a:extLst>
              <a:ext uri="{FF2B5EF4-FFF2-40B4-BE49-F238E27FC236}">
                <a16:creationId xmlns:a16="http://schemas.microsoft.com/office/drawing/2014/main" id="{975E865B-3574-B355-10BD-18A56527E1EC}"/>
              </a:ext>
            </a:extLst>
          </p:cNvPr>
          <p:cNvSpPr/>
          <p:nvPr/>
        </p:nvSpPr>
        <p:spPr>
          <a:xfrm>
            <a:off x="677753" y="6350761"/>
            <a:ext cx="10972797" cy="45719"/>
          </a:xfrm>
          <a:prstGeom prst="rect">
            <a:avLst/>
          </a:prstGeom>
          <a:solidFill>
            <a:srgbClr val="6B9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0773323C-56F3-10CC-76E0-67BCA9076FF8}"/>
              </a:ext>
            </a:extLst>
          </p:cNvPr>
          <p:cNvSpPr txBox="1"/>
          <p:nvPr/>
        </p:nvSpPr>
        <p:spPr>
          <a:xfrm>
            <a:off x="677753" y="6492240"/>
            <a:ext cx="87405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0" i="0" dirty="0">
                <a:solidFill>
                  <a:srgbClr val="5C574E"/>
                </a:solidFill>
                <a:latin typeface="Arial"/>
              </a:rPr>
              <a:t>Yann 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Lawrenz · ML4B SoSe 2026 · </a:t>
            </a:r>
            <a:r>
              <a:rPr lang="de-DE" sz="800" dirty="0" err="1">
                <a:solidFill>
                  <a:srgbClr val="5C574E"/>
                </a:solidFill>
                <a:latin typeface="Arial"/>
              </a:rPr>
              <a:t>WiSo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 / FAU · 26.06.2026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5C4C"/>
                </a:solidFill>
                <a:latin typeface="Arial"/>
              </a:rPr>
              <a:t>Methodik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1B16"/>
                </a:solidFill>
                <a:latin typeface="Georgia"/>
              </a:rPr>
              <a:t>Vorgehen: Pipeline und CRISP-DM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31750"/>
          </a:xfrm>
          <a:prstGeom prst="rect">
            <a:avLst/>
          </a:prstGeom>
          <a:solidFill>
            <a:srgbClr val="1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61040" y="652397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3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63040"/>
            <a:ext cx="1417320" cy="868680"/>
          </a:xfrm>
          <a:prstGeom prst="rect">
            <a:avLst/>
          </a:prstGeom>
          <a:solidFill>
            <a:srgbClr val="EFEADF"/>
          </a:solidFill>
          <a:ln w="635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89207"/>
            <a:ext cx="1289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1E1B16"/>
                </a:solidFill>
                <a:latin typeface="Arial"/>
              </a:rPr>
              <a:t>Audio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5C574E"/>
                </a:solidFill>
                <a:latin typeface="Arial"/>
              </a:rPr>
              <a:t>5 s </a:t>
            </a:r>
            <a:r>
              <a:rPr lang="de-DE" sz="800" b="0" i="0" dirty="0">
                <a:solidFill>
                  <a:srgbClr val="5C574E"/>
                </a:solidFill>
                <a:latin typeface="Arial"/>
              </a:rPr>
              <a:t> Clip</a:t>
            </a:r>
            <a:r>
              <a:rPr sz="800" b="0" i="0" dirty="0">
                <a:solidFill>
                  <a:srgbClr val="5C574E"/>
                </a:solidFill>
                <a:latin typeface="Arial"/>
              </a:rPr>
              <a:t>· 32 kHz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1897380"/>
            <a:ext cx="374904" cy="0"/>
          </a:xfrm>
          <a:prstGeom prst="line">
            <a:avLst/>
          </a:prstGeom>
          <a:ln w="15240">
            <a:solidFill>
              <a:srgbClr val="D9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423160" y="1463040"/>
            <a:ext cx="1417320" cy="868680"/>
          </a:xfrm>
          <a:prstGeom prst="rect">
            <a:avLst/>
          </a:prstGeom>
          <a:solidFill>
            <a:srgbClr val="EFEADF"/>
          </a:solidFill>
          <a:ln w="635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1650492"/>
            <a:ext cx="12893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1E1B16"/>
                </a:solidFill>
                <a:latin typeface="Arial"/>
              </a:rPr>
              <a:t>Mel-</a:t>
            </a:r>
            <a:r>
              <a:rPr sz="1000" b="1" i="0" dirty="0" err="1">
                <a:solidFill>
                  <a:srgbClr val="1E1B16"/>
                </a:solidFill>
                <a:latin typeface="Arial"/>
              </a:rPr>
              <a:t>Spektrogramm</a:t>
            </a:r>
            <a:endParaRPr sz="1000" b="1" i="0" dirty="0">
              <a:solidFill>
                <a:srgbClr val="1E1B16"/>
              </a:solidFill>
              <a:latin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5C574E"/>
                </a:solidFill>
                <a:latin typeface="Arial"/>
              </a:rPr>
              <a:t>128×313 · </a:t>
            </a:r>
            <a:r>
              <a:rPr sz="800" b="0" i="0" dirty="0" err="1">
                <a:solidFill>
                  <a:srgbClr val="5C574E"/>
                </a:solidFill>
                <a:latin typeface="Arial"/>
              </a:rPr>
              <a:t>librosa</a:t>
            </a:r>
            <a:endParaRPr sz="800" b="0" i="0" dirty="0">
              <a:solidFill>
                <a:srgbClr val="5C574E"/>
              </a:solidFill>
              <a:latin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800" b="0" i="0" dirty="0">
              <a:solidFill>
                <a:srgbClr val="5C574E"/>
              </a:solidFill>
              <a:latin typeface="Arial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1897380"/>
            <a:ext cx="374904" cy="0"/>
          </a:xfrm>
          <a:prstGeom prst="line">
            <a:avLst/>
          </a:prstGeom>
          <a:ln w="15240">
            <a:solidFill>
              <a:srgbClr val="D9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51960" y="1463040"/>
            <a:ext cx="1417320" cy="868680"/>
          </a:xfrm>
          <a:prstGeom prst="rect">
            <a:avLst/>
          </a:prstGeom>
          <a:solidFill>
            <a:srgbClr val="D4E8E3"/>
          </a:solidFill>
          <a:ln w="635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647304"/>
            <a:ext cx="128930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1F5C4C"/>
                </a:solidFill>
                <a:latin typeface="Arial"/>
              </a:rPr>
              <a:t>BirdCNN</a:t>
            </a:r>
            <a:endParaRPr sz="1000" b="1" i="0" dirty="0">
              <a:solidFill>
                <a:srgbClr val="1F5C4C"/>
              </a:solidFill>
              <a:latin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800" dirty="0">
                <a:solidFill>
                  <a:srgbClr val="5C574E"/>
                </a:solidFill>
                <a:latin typeface="Arial"/>
              </a:rPr>
              <a:t>Eigenes CNN</a:t>
            </a:r>
            <a:endParaRPr sz="800" b="0" i="0" dirty="0">
              <a:solidFill>
                <a:srgbClr val="5C574E"/>
              </a:solidFill>
              <a:latin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5C574E"/>
                </a:solidFill>
                <a:latin typeface="Arial"/>
              </a:rPr>
              <a:t>PyTorch</a:t>
            </a:r>
            <a:endParaRPr sz="800" b="0" i="0" dirty="0">
              <a:solidFill>
                <a:srgbClr val="5C574E"/>
              </a:solidFill>
              <a:latin typeface="Arial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1897380"/>
            <a:ext cx="374904" cy="0"/>
          </a:xfrm>
          <a:prstGeom prst="line">
            <a:avLst/>
          </a:prstGeom>
          <a:ln w="15240">
            <a:solidFill>
              <a:srgbClr val="D9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080760" y="1463040"/>
            <a:ext cx="1417320" cy="868680"/>
          </a:xfrm>
          <a:prstGeom prst="rect">
            <a:avLst/>
          </a:prstGeom>
          <a:solidFill>
            <a:srgbClr val="EFEADF"/>
          </a:solidFill>
          <a:ln w="635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9592" y="1650492"/>
            <a:ext cx="12893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1E1B16"/>
                </a:solidFill>
                <a:latin typeface="Arial"/>
              </a:rPr>
              <a:t>4 Klassen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5C574E"/>
                </a:solidFill>
                <a:latin typeface="Arial"/>
              </a:rPr>
              <a:t>+ </a:t>
            </a:r>
            <a:r>
              <a:rPr sz="800" b="0" i="0" dirty="0" err="1">
                <a:solidFill>
                  <a:srgbClr val="5C574E"/>
                </a:solidFill>
                <a:latin typeface="Arial"/>
              </a:rPr>
              <a:t>Konfidenz</a:t>
            </a:r>
            <a:endParaRPr sz="800" b="0" i="0" dirty="0">
              <a:solidFill>
                <a:srgbClr val="5C574E"/>
              </a:solidFill>
              <a:latin typeface="Arial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498080" y="1897380"/>
            <a:ext cx="374904" cy="0"/>
          </a:xfrm>
          <a:prstGeom prst="line">
            <a:avLst/>
          </a:prstGeom>
          <a:ln w="15240">
            <a:solidFill>
              <a:srgbClr val="D9D3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909560" y="1463040"/>
            <a:ext cx="1417320" cy="868680"/>
          </a:xfrm>
          <a:prstGeom prst="rect">
            <a:avLst/>
          </a:prstGeom>
          <a:solidFill>
            <a:srgbClr val="EFEADF"/>
          </a:solidFill>
          <a:ln w="635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0960" y="1691639"/>
            <a:ext cx="1289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1E1B16"/>
                </a:solidFill>
                <a:latin typeface="Arial"/>
              </a:rPr>
              <a:t>Streamlit</a:t>
            </a:r>
            <a:r>
              <a:rPr lang="de-DE" sz="1000" b="1" i="0" dirty="0">
                <a:solidFill>
                  <a:srgbClr val="1E1B16"/>
                </a:solidFill>
                <a:latin typeface="Arial"/>
              </a:rPr>
              <a:t>-App</a:t>
            </a:r>
            <a:endParaRPr sz="1000" b="1" i="0" dirty="0">
              <a:solidFill>
                <a:srgbClr val="1E1B16"/>
              </a:solidFill>
              <a:latin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de-DE" sz="800" b="0" i="0" dirty="0" err="1">
                <a:solidFill>
                  <a:srgbClr val="5C574E"/>
                </a:solidFill>
                <a:latin typeface="Arial"/>
              </a:rPr>
              <a:t>BirdNET</a:t>
            </a:r>
            <a:r>
              <a:rPr lang="de-DE" sz="800" b="0" i="0" dirty="0">
                <a:solidFill>
                  <a:srgbClr val="5C574E"/>
                </a:solidFill>
                <a:latin typeface="Arial"/>
              </a:rPr>
              <a:t>-Vergleich</a:t>
            </a:r>
            <a:endParaRPr sz="800" b="0" i="0" dirty="0">
              <a:solidFill>
                <a:srgbClr val="5C574E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0577" y="2840820"/>
            <a:ext cx="6456587" cy="1926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de-DE" sz="1400" b="1" dirty="0">
                <a:solidFill>
                  <a:srgbClr val="1F5C4C"/>
                </a:solidFill>
                <a:latin typeface="Arial"/>
              </a:rPr>
              <a:t>Modell &amp; Training</a:t>
            </a:r>
          </a:p>
          <a:p>
            <a:pPr>
              <a:spcBef>
                <a:spcPts val="200"/>
              </a:spcBef>
            </a:pPr>
            <a:r>
              <a:rPr lang="de-DE" sz="1200" dirty="0">
                <a:solidFill>
                  <a:srgbClr val="1E1B16"/>
                </a:solidFill>
                <a:latin typeface="Arial"/>
              </a:rPr>
              <a:t>· Das CNN liest das Spektrogramm wie ein Bild und erkennt Klangmuster Schritt für Schritt, von grob zu fein (4 </a:t>
            </a:r>
            <a:r>
              <a:rPr lang="de-DE" sz="1200" dirty="0" err="1">
                <a:solidFill>
                  <a:srgbClr val="1E1B16"/>
                </a:solidFill>
                <a:latin typeface="Arial"/>
              </a:rPr>
              <a:t>Conv</a:t>
            </a:r>
            <a:r>
              <a:rPr lang="de-DE" sz="1200" dirty="0">
                <a:solidFill>
                  <a:srgbClr val="1E1B16"/>
                </a:solidFill>
                <a:latin typeface="Arial"/>
              </a:rPr>
              <a:t>-Blöcke).</a:t>
            </a:r>
          </a:p>
          <a:p>
            <a:pPr>
              <a:spcBef>
                <a:spcPts val="200"/>
              </a:spcBef>
            </a:pPr>
            <a:r>
              <a:rPr lang="de-DE" sz="1200" dirty="0">
                <a:solidFill>
                  <a:srgbClr val="1E1B16"/>
                </a:solidFill>
                <a:latin typeface="Arial"/>
              </a:rPr>
              <a:t>· Damit es nicht auswendig lernt: zufällig Teile abschalten (Dropout) und Aufnahmen leicht verfremden (</a:t>
            </a:r>
            <a:r>
              <a:rPr lang="de-DE" sz="1200" dirty="0" err="1">
                <a:solidFill>
                  <a:srgbClr val="1E1B16"/>
                </a:solidFill>
                <a:latin typeface="Arial"/>
              </a:rPr>
              <a:t>SpecAugment</a:t>
            </a:r>
            <a:r>
              <a:rPr lang="de-DE" sz="1200" dirty="0">
                <a:solidFill>
                  <a:srgbClr val="1E1B16"/>
                </a:solidFill>
                <a:latin typeface="Arial"/>
              </a:rPr>
              <a:t>).</a:t>
            </a:r>
          </a:p>
          <a:p>
            <a:pPr>
              <a:spcBef>
                <a:spcPts val="200"/>
              </a:spcBef>
            </a:pPr>
            <a:r>
              <a:rPr lang="de-DE" sz="1200" dirty="0">
                <a:solidFill>
                  <a:srgbClr val="1E1B16"/>
                </a:solidFill>
                <a:latin typeface="Arial"/>
              </a:rPr>
              <a:t>· Daten getrennt zum Trainieren, Abstimmen und Testen (3.797 / 1.585 / 964). Clips einer Aufnahme bleiben zusammen, sonst schummelt das Modell.</a:t>
            </a:r>
          </a:p>
          <a:p>
            <a:pPr>
              <a:spcBef>
                <a:spcPts val="200"/>
              </a:spcBef>
            </a:pPr>
            <a:r>
              <a:rPr lang="de-DE" sz="1200" dirty="0">
                <a:solidFill>
                  <a:srgbClr val="1E1B16"/>
                </a:solidFill>
                <a:latin typeface="Arial"/>
              </a:rPr>
              <a:t>· Aufnahmen von Xeno-Canto (offene Vogelstimmen-Datenbank); </a:t>
            </a:r>
            <a:r>
              <a:rPr lang="de-DE" sz="1200" dirty="0" err="1">
                <a:solidFill>
                  <a:srgbClr val="1E1B16"/>
                </a:solidFill>
                <a:latin typeface="Arial"/>
              </a:rPr>
              <a:t>YAMNet</a:t>
            </a:r>
            <a:r>
              <a:rPr lang="de-DE" sz="1200" dirty="0">
                <a:solidFill>
                  <a:srgbClr val="1E1B16"/>
                </a:solidFill>
                <a:latin typeface="Arial"/>
              </a:rPr>
              <a:t> prüft vorab, ob wirklich ein Vogel zu hören 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5C4C"/>
                </a:solidFill>
                <a:latin typeface="Arial"/>
              </a:rPr>
              <a:t>CRISP-DM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513832"/>
            <a:ext cx="1783080" cy="887184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513832"/>
            <a:ext cx="1691640" cy="887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Business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Understanding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5C574E"/>
                </a:solidFill>
                <a:latin typeface="Arial"/>
              </a:rPr>
              <a:t>4 Klassen &amp; Nutzen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5513832"/>
            <a:ext cx="1783080" cy="887184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87168" y="5513832"/>
            <a:ext cx="1691640" cy="887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Understanding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5C574E"/>
                </a:solidFill>
                <a:latin typeface="Arial"/>
              </a:rPr>
              <a:t>Xeno-Canto, Qualität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8536" y="5513832"/>
            <a:ext cx="1783080" cy="887184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34256" y="5513832"/>
            <a:ext cx="1691640" cy="887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Preparation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5C574E"/>
                </a:solidFill>
                <a:latin typeface="Arial"/>
              </a:rPr>
              <a:t>YAMNet, Mel, Split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5624" y="5513832"/>
            <a:ext cx="1783080" cy="887184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81344" y="5513832"/>
            <a:ext cx="1691640" cy="887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Modeling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5C574E"/>
                </a:solidFill>
                <a:latin typeface="Arial"/>
              </a:rPr>
              <a:t>BirdCNN, AdamW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82712" y="5513832"/>
            <a:ext cx="1783080" cy="887184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28432" y="5513832"/>
            <a:ext cx="1691640" cy="887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Evaluation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5C574E"/>
                </a:solidFill>
                <a:latin typeface="Arial"/>
              </a:rPr>
              <a:t>Macro-F1, ROC-AUC, ECE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5513832"/>
            <a:ext cx="1783080" cy="887184"/>
          </a:xfrm>
          <a:prstGeom prst="rect">
            <a:avLst/>
          </a:prstGeom>
          <a:solidFill>
            <a:srgbClr val="D4E8E3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5513832"/>
            <a:ext cx="1691640" cy="887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E1B16"/>
                </a:solidFill>
                <a:latin typeface="Arial"/>
              </a:rPr>
              <a:t>Deployment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5C574E"/>
                </a:solidFill>
                <a:latin typeface="Arial"/>
              </a:rPr>
              <a:t>Streamlit, BirdNET</a:t>
            </a:r>
          </a:p>
        </p:txBody>
      </p:sp>
      <p:pic>
        <p:nvPicPr>
          <p:cNvPr id="34" name="Picture 33" descr="01_mel_spektrogram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2468879"/>
            <a:ext cx="4695444" cy="29001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27164" y="52585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 dirty="0">
                <a:solidFill>
                  <a:srgbClr val="5C574E"/>
                </a:solidFill>
                <a:latin typeface="Arial"/>
              </a:rPr>
              <a:t>→ So </a:t>
            </a:r>
            <a:r>
              <a:rPr sz="900" b="0" i="1" dirty="0" err="1">
                <a:solidFill>
                  <a:srgbClr val="5C574E"/>
                </a:solidFill>
                <a:latin typeface="Arial"/>
              </a:rPr>
              <a:t>sieht</a:t>
            </a:r>
            <a:r>
              <a:rPr sz="900" b="0" i="1" dirty="0">
                <a:solidFill>
                  <a:srgbClr val="5C574E"/>
                </a:solidFill>
                <a:latin typeface="Arial"/>
              </a:rPr>
              <a:t> das Modell den Ton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71110B79-7AFC-9C60-27DA-BE6326CF99AC}"/>
              </a:ext>
            </a:extLst>
          </p:cNvPr>
          <p:cNvSpPr/>
          <p:nvPr/>
        </p:nvSpPr>
        <p:spPr>
          <a:xfrm>
            <a:off x="594360" y="6411937"/>
            <a:ext cx="11089640" cy="45719"/>
          </a:xfrm>
          <a:prstGeom prst="rect">
            <a:avLst/>
          </a:prstGeom>
          <a:solidFill>
            <a:srgbClr val="6B9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A5C8248F-D727-9E97-3DE5-A3A72B96111A}"/>
              </a:ext>
            </a:extLst>
          </p:cNvPr>
          <p:cNvSpPr txBox="1"/>
          <p:nvPr/>
        </p:nvSpPr>
        <p:spPr>
          <a:xfrm>
            <a:off x="586313" y="6523978"/>
            <a:ext cx="87405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0" i="0" dirty="0">
                <a:solidFill>
                  <a:srgbClr val="5C574E"/>
                </a:solidFill>
                <a:latin typeface="Arial"/>
              </a:rPr>
              <a:t>Yann 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Lawrenz · ML4B SoSe 2026 · </a:t>
            </a:r>
            <a:r>
              <a:rPr lang="de-DE" sz="800" dirty="0" err="1">
                <a:solidFill>
                  <a:srgbClr val="5C574E"/>
                </a:solidFill>
                <a:latin typeface="Arial"/>
              </a:rPr>
              <a:t>WiSo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 / FAU · 26.06.2026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5C4C"/>
                </a:solidFill>
                <a:latin typeface="Arial"/>
              </a:rPr>
              <a:t>Schlüsselentscheidung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1B16"/>
                </a:solidFill>
                <a:latin typeface="Georgia"/>
              </a:rPr>
              <a:t>Background-Klasse mit YAMNet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1750"/>
          </a:xfrm>
          <a:prstGeom prst="rect">
            <a:avLst/>
          </a:prstGeom>
          <a:solidFill>
            <a:srgbClr val="1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66225" y="6492240"/>
            <a:ext cx="23009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5C574E"/>
                </a:solidFill>
                <a:latin typeface="Arial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029200" cy="32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Beobachtung</a:t>
            </a:r>
            <a:endParaRPr sz="10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Das CNN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lernte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das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Hintergrundrauschen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statt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den Gesang, Accuracy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trotzdem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hoch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Warum</a:t>
            </a:r>
            <a:r>
              <a:rPr sz="1400" b="1" i="0" dirty="0">
                <a:solidFill>
                  <a:srgbClr val="1F5C4C"/>
                </a:solidFill>
                <a:latin typeface="Arial"/>
              </a:rPr>
              <a:t> Accuracy </a:t>
            </a:r>
            <a:r>
              <a:rPr sz="1400" b="1" i="0" dirty="0" err="1">
                <a:solidFill>
                  <a:srgbClr val="1F5C4C"/>
                </a:solidFill>
                <a:latin typeface="Arial"/>
              </a:rPr>
              <a:t>täuscht</a:t>
            </a:r>
            <a:endParaRPr sz="14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Naive Baseline </a:t>
            </a:r>
            <a:r>
              <a:rPr lang="de-DE" sz="1200" b="0" i="0" dirty="0">
                <a:solidFill>
                  <a:srgbClr val="1E1B16"/>
                </a:solidFill>
                <a:latin typeface="Arial"/>
              </a:rPr>
              <a:t>"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immer Background</a:t>
            </a:r>
            <a:r>
              <a:rPr lang="de-DE" sz="1200" b="0" i="0" dirty="0">
                <a:solidFill>
                  <a:srgbClr val="1E1B16"/>
                </a:solidFill>
                <a:latin typeface="Arial"/>
              </a:rPr>
              <a:t>"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: 54,5 % (525/964),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nur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weil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Background die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größte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Klasse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ist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. Fairer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Maßstab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: Macro-F1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wertet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jede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Klasse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gleich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Lösung</a:t>
            </a:r>
            <a:endParaRPr sz="12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 dirty="0" err="1">
                <a:solidFill>
                  <a:srgbClr val="1E1B16"/>
                </a:solidFill>
                <a:latin typeface="Arial"/>
              </a:rPr>
              <a:t>YAMNet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prüft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pro Clip,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ob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ein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Vogel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hörbar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ist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. Stille,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Rauschen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und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Fremdvögel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(Taube,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Krähe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, Spatz)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bilden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die Background-Klasse. »Kein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Zielvogel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«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wird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zur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echten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vierten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Klasse.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Ergebnis</a:t>
            </a:r>
            <a:endParaRPr sz="14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Das Modell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trifft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jetzt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auch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die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seltenen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Arten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. </a:t>
            </a:r>
            <a:r>
              <a:rPr sz="1200" b="1" i="0" dirty="0">
                <a:solidFill>
                  <a:srgbClr val="1E1B16"/>
                </a:solidFill>
                <a:latin typeface="Arial"/>
              </a:rPr>
              <a:t>Macro-F1 0,85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, alle vier Klassen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gleichwertig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166360"/>
            <a:ext cx="4937760" cy="777240"/>
          </a:xfrm>
          <a:prstGeom prst="rect">
            <a:avLst/>
          </a:prstGeom>
          <a:solidFill>
            <a:srgbClr val="EFEADF"/>
          </a:solidFill>
          <a:ln w="635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 dirty="0">
                <a:solidFill>
                  <a:srgbClr val="5C574E"/>
                </a:solidFill>
                <a:latin typeface="Arial"/>
              </a:rPr>
              <a:t>Naive Baseline »immer Background«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1F5C4C"/>
                </a:solidFill>
                <a:latin typeface="Arial"/>
              </a:rPr>
              <a:t>54,5 %   →   Macro-F1 </a:t>
            </a:r>
            <a:r>
              <a:rPr sz="1300" b="1" i="0" dirty="0" err="1">
                <a:solidFill>
                  <a:srgbClr val="1F5C4C"/>
                </a:solidFill>
                <a:latin typeface="Arial"/>
              </a:rPr>
              <a:t>als</a:t>
            </a:r>
            <a:r>
              <a:rPr sz="1300" b="1" i="0" dirty="0">
                <a:solidFill>
                  <a:srgbClr val="1F5C4C"/>
                </a:solidFill>
                <a:latin typeface="Arial"/>
              </a:rPr>
              <a:t> fairer </a:t>
            </a:r>
            <a:r>
              <a:rPr sz="1300" b="1" i="0" dirty="0" err="1">
                <a:solidFill>
                  <a:srgbClr val="1F5C4C"/>
                </a:solidFill>
                <a:latin typeface="Arial"/>
              </a:rPr>
              <a:t>Maßstab</a:t>
            </a:r>
            <a:endParaRPr sz="1300" b="1" i="0" dirty="0">
              <a:solidFill>
                <a:srgbClr val="1F5C4C"/>
              </a:solidFill>
              <a:latin typeface="Arial"/>
            </a:endParaRPr>
          </a:p>
        </p:txBody>
      </p:sp>
      <p:pic>
        <p:nvPicPr>
          <p:cNvPr id="9" name="Picture 8" descr="03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44752"/>
            <a:ext cx="5753527" cy="493776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0FC0875-2992-59F5-BD72-2414E3581AE1}"/>
              </a:ext>
            </a:extLst>
          </p:cNvPr>
          <p:cNvSpPr/>
          <p:nvPr/>
        </p:nvSpPr>
        <p:spPr>
          <a:xfrm flipV="1">
            <a:off x="677753" y="6382511"/>
            <a:ext cx="10889407" cy="45719"/>
          </a:xfrm>
          <a:prstGeom prst="rect">
            <a:avLst/>
          </a:prstGeom>
          <a:solidFill>
            <a:srgbClr val="6B9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95B83C9-C7F3-E44E-3233-085B71ACB4DC}"/>
              </a:ext>
            </a:extLst>
          </p:cNvPr>
          <p:cNvSpPr txBox="1"/>
          <p:nvPr/>
        </p:nvSpPr>
        <p:spPr>
          <a:xfrm>
            <a:off x="677753" y="6492240"/>
            <a:ext cx="87405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0" i="0" dirty="0">
                <a:solidFill>
                  <a:srgbClr val="5C574E"/>
                </a:solidFill>
                <a:latin typeface="Arial"/>
              </a:rPr>
              <a:t>Yann 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Lawrenz · ML4B SoSe 2026 · </a:t>
            </a:r>
            <a:r>
              <a:rPr lang="de-DE" sz="800" dirty="0" err="1">
                <a:solidFill>
                  <a:srgbClr val="5C574E"/>
                </a:solidFill>
                <a:latin typeface="Arial"/>
              </a:rPr>
              <a:t>WiSo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 / FAU · 26.06.2026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5C4C"/>
                </a:solidFill>
                <a:latin typeface="Arial"/>
              </a:rPr>
              <a:t>Ergebnis &amp; Ausblick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E1B16"/>
                </a:solidFill>
                <a:latin typeface="Georgia"/>
              </a:rPr>
              <a:t>Ergebnis, Grenzen und Ausblick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0" cy="31750"/>
          </a:xfrm>
          <a:prstGeom prst="rect">
            <a:avLst/>
          </a:prstGeom>
          <a:solidFill>
            <a:srgbClr val="1F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64208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5C574E"/>
                </a:solidFill>
                <a:latin typeface="Arial"/>
              </a:rPr>
              <a:t>5 /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103120" cy="804672"/>
          </a:xfrm>
          <a:prstGeom prst="rect">
            <a:avLst/>
          </a:prstGeom>
          <a:solidFill>
            <a:srgbClr val="D4E8E3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C4C"/>
                </a:solidFill>
                <a:latin typeface="Georgia"/>
              </a:rPr>
              <a:t>86,6 %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Test-Accuracy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n=964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5496" y="1481328"/>
            <a:ext cx="2103120" cy="804672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16936" y="153619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5C4C"/>
                </a:solidFill>
                <a:latin typeface="Georgia"/>
              </a:rPr>
              <a:t>0,85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Macro-F1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6632" y="1481328"/>
            <a:ext cx="2103120" cy="804672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48072" y="153619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5C4C"/>
                </a:solidFill>
                <a:latin typeface="Georgia"/>
              </a:rPr>
              <a:t>0,87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Weighted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87768" y="1481328"/>
            <a:ext cx="2103120" cy="804672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9208" y="153619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C4C"/>
                </a:solidFill>
                <a:latin typeface="Georgia"/>
              </a:rPr>
              <a:t>0,96–0,99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ROC-AUC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One-vs-Rest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18904" y="1481328"/>
            <a:ext cx="2103120" cy="804672"/>
          </a:xfrm>
          <a:prstGeom prst="rect">
            <a:avLst/>
          </a:prstGeom>
          <a:solidFill>
            <a:srgbClr val="EFEADF"/>
          </a:solidFill>
          <a:ln w="5080">
            <a:solidFill>
              <a:srgbClr val="D9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10344" y="153619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5C4C"/>
                </a:solidFill>
                <a:latin typeface="Georgia"/>
              </a:rPr>
              <a:t>0,098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ECE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574E"/>
                </a:solidFill>
                <a:latin typeface="Arial"/>
              </a:rPr>
              <a:t>Kalibrierung</a:t>
            </a:r>
          </a:p>
        </p:txBody>
      </p:sp>
      <p:pic>
        <p:nvPicPr>
          <p:cNvPr id="16" name="Picture 15" descr="04_per_klasse_p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23160"/>
            <a:ext cx="7132320" cy="3749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2423160"/>
            <a:ext cx="3749039" cy="304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Grenzen</a:t>
            </a:r>
            <a:r>
              <a:rPr sz="1400" b="1" i="0" dirty="0">
                <a:solidFill>
                  <a:srgbClr val="1F5C4C"/>
                </a:solidFill>
                <a:latin typeface="Arial"/>
              </a:rPr>
              <a:t> (</a:t>
            </a:r>
            <a:r>
              <a:rPr sz="1400" b="1" i="0" dirty="0" err="1">
                <a:solidFill>
                  <a:srgbClr val="1F5C4C"/>
                </a:solidFill>
                <a:latin typeface="Arial"/>
              </a:rPr>
              <a:t>datenbelegt</a:t>
            </a:r>
            <a:r>
              <a:rPr sz="1400" b="1" i="0" dirty="0">
                <a:solidFill>
                  <a:srgbClr val="1F5C4C"/>
                </a:solidFill>
                <a:latin typeface="Arial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·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Kohlmeise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schwächster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Recall 0,77, oft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mit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Rotkehlchen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verwechselt</a:t>
            </a:r>
            <a:endParaRPr sz="1200" b="0" i="0" dirty="0">
              <a:solidFill>
                <a:srgbClr val="1E1B16"/>
              </a:solidFill>
              <a:latin typeface="Arial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· Amsel &amp;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Rotkehlchen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niedrige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Precision: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vogelähnliche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Background-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Geräusche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werden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als</a:t>
            </a:r>
            <a:r>
              <a:rPr sz="1200" b="0" i="0" dirty="0">
                <a:solidFill>
                  <a:srgbClr val="1E1B16"/>
                </a:solidFill>
                <a:latin typeface="Arial"/>
              </a:rPr>
              <a:t> Vogel </a:t>
            </a:r>
            <a:r>
              <a:rPr sz="1200" b="0" i="0" dirty="0" err="1">
                <a:solidFill>
                  <a:srgbClr val="1E1B16"/>
                </a:solidFill>
                <a:latin typeface="Arial"/>
              </a:rPr>
              <a:t>erkannt</a:t>
            </a:r>
            <a:endParaRPr sz="1200" b="0" i="0" dirty="0">
              <a:solidFill>
                <a:srgbClr val="1E1B16"/>
              </a:solidFill>
              <a:latin typeface="Arial"/>
            </a:endParaRP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Ausblick</a:t>
            </a:r>
            <a:endParaRPr sz="1400" b="1" i="0" dirty="0">
              <a:solidFill>
                <a:srgbClr val="1F5C4C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→ </a:t>
            </a:r>
            <a:r>
              <a:rPr lang="de-DE" sz="1200" dirty="0">
                <a:solidFill>
                  <a:srgbClr val="1E1B16"/>
                </a:solidFill>
                <a:latin typeface="Arial"/>
              </a:rPr>
              <a:t>mehr Daten</a:t>
            </a:r>
            <a:endParaRPr sz="1200" b="0" i="0" dirty="0">
              <a:solidFill>
                <a:srgbClr val="1E1B16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→ </a:t>
            </a:r>
            <a:r>
              <a:rPr lang="de-DE" sz="1200" dirty="0">
                <a:solidFill>
                  <a:srgbClr val="1E1B16"/>
                </a:solidFill>
                <a:latin typeface="Arial"/>
              </a:rPr>
              <a:t>Mehr Arten: Buchfink, Star </a:t>
            </a:r>
            <a:endParaRPr sz="1200" b="0" i="0" dirty="0">
              <a:solidFill>
                <a:srgbClr val="1E1B16"/>
              </a:solidFill>
              <a:latin typeface="Arial"/>
            </a:endParaRPr>
          </a:p>
          <a:p>
            <a:pPr>
              <a:spcBef>
                <a:spcPts val="300"/>
              </a:spcBef>
            </a:pPr>
            <a:r>
              <a:rPr sz="1200" b="0" i="0" dirty="0">
                <a:solidFill>
                  <a:srgbClr val="1E1B16"/>
                </a:solidFill>
                <a:latin typeface="Arial"/>
              </a:rPr>
              <a:t>→</a:t>
            </a:r>
            <a:r>
              <a:rPr lang="de-DE" sz="1200" dirty="0">
                <a:solidFill>
                  <a:srgbClr val="1E1B16"/>
                </a:solidFill>
                <a:latin typeface="Arial"/>
              </a:rPr>
              <a:t> Echte Feldaufnahmen</a:t>
            </a:r>
            <a:endParaRPr sz="1200" b="0" i="0" dirty="0">
              <a:solidFill>
                <a:srgbClr val="1E1B16"/>
              </a:solidFill>
              <a:latin typeface="Arial"/>
            </a:endParaRPr>
          </a:p>
          <a:p>
            <a:pPr algn="l">
              <a:spcBef>
                <a:spcPts val="1000"/>
              </a:spcBef>
              <a:spcAft>
                <a:spcPts val="300"/>
              </a:spcAft>
            </a:pPr>
            <a:r>
              <a:rPr sz="1400" b="1" i="0" dirty="0" err="1">
                <a:solidFill>
                  <a:srgbClr val="1F5C4C"/>
                </a:solidFill>
                <a:latin typeface="Arial"/>
              </a:rPr>
              <a:t>Reproduzierbarkeit</a:t>
            </a:r>
            <a:endParaRPr sz="1400" b="1" i="0" dirty="0">
              <a:solidFill>
                <a:srgbClr val="1F5C4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latin typeface="Arial"/>
              </a:rPr>
              <a:t>Split auf </a:t>
            </a:r>
            <a:r>
              <a:rPr sz="1200" b="0" i="0" dirty="0" err="1">
                <a:latin typeface="Arial"/>
              </a:rPr>
              <a:t>Aufnahme</a:t>
            </a:r>
            <a:r>
              <a:rPr sz="1200" b="0" i="0" dirty="0">
                <a:latin typeface="Arial"/>
              </a:rPr>
              <a:t>-Ebene · </a:t>
            </a:r>
            <a:r>
              <a:rPr sz="1200" b="0" i="0" dirty="0" err="1">
                <a:latin typeface="Arial"/>
              </a:rPr>
              <a:t>fixiertes</a:t>
            </a:r>
            <a:r>
              <a:rPr sz="1200" b="0" i="0" dirty="0">
                <a:latin typeface="Arial"/>
              </a:rPr>
              <a:t> </a:t>
            </a:r>
            <a:r>
              <a:rPr sz="1200" b="0" i="0" dirty="0" err="1">
                <a:latin typeface="Arial"/>
              </a:rPr>
              <a:t>uv.lock</a:t>
            </a:r>
            <a:endParaRPr sz="1200" b="0" i="0" dirty="0">
              <a:latin typeface="Arial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C455594-8D8D-EDDE-A09D-B9764D803060}"/>
              </a:ext>
            </a:extLst>
          </p:cNvPr>
          <p:cNvSpPr/>
          <p:nvPr/>
        </p:nvSpPr>
        <p:spPr>
          <a:xfrm>
            <a:off x="557784" y="6275196"/>
            <a:ext cx="11009376" cy="45719"/>
          </a:xfrm>
          <a:prstGeom prst="rect">
            <a:avLst/>
          </a:prstGeom>
          <a:solidFill>
            <a:srgbClr val="6B9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C723049D-75C9-7701-9D06-93AC39D78AFD}"/>
              </a:ext>
            </a:extLst>
          </p:cNvPr>
          <p:cNvSpPr txBox="1"/>
          <p:nvPr/>
        </p:nvSpPr>
        <p:spPr>
          <a:xfrm>
            <a:off x="557784" y="6416674"/>
            <a:ext cx="87697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0" i="0" dirty="0">
                <a:solidFill>
                  <a:srgbClr val="5C574E"/>
                </a:solidFill>
                <a:latin typeface="Arial"/>
              </a:rPr>
              <a:t>Yann 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Lawrenz · ML4B SoSe 2026 · </a:t>
            </a:r>
            <a:r>
              <a:rPr lang="de-DE" sz="800" dirty="0" err="1">
                <a:solidFill>
                  <a:srgbClr val="5C574E"/>
                </a:solidFill>
                <a:latin typeface="Arial"/>
              </a:rPr>
              <a:t>WiSo</a:t>
            </a:r>
            <a:r>
              <a:rPr lang="de-DE" sz="800" dirty="0">
                <a:solidFill>
                  <a:srgbClr val="5C574E"/>
                </a:solidFill>
                <a:latin typeface="Arial"/>
              </a:rPr>
              <a:t> / FAU · 26.06.2026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Breitbild</PresentationFormat>
  <Paragraphs>114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Yann L.</dc:creator>
  <cp:keywords/>
  <dc:description>generated using python-pptx</dc:description>
  <cp:lastModifiedBy>Yann L.</cp:lastModifiedBy>
  <cp:revision>5</cp:revision>
  <dcterms:created xsi:type="dcterms:W3CDTF">2013-01-27T09:14:16Z</dcterms:created>
  <dcterms:modified xsi:type="dcterms:W3CDTF">2026-06-25T17:45:39Z</dcterms:modified>
  <cp:category/>
</cp:coreProperties>
</file>